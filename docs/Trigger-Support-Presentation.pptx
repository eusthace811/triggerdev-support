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50800"/>
          </a:xfrm>
          <a:prstGeom prst="rect">
            <a:avLst/>
          </a:prstGeom>
          <a:solidFill>
            <a:srgbClr val="41F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6495" cy="50800"/>
          </a:xfrm>
          <a:prstGeom prst="rect">
            <a:avLst/>
          </a:prstGeom>
          <a:solidFill>
            <a:srgbClr val="E7F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362712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5F5F5"/>
                </a:solidFill>
                <a:latin typeface="Helvetica Neue"/>
              </a:defRPr>
            </a:pPr>
            <a:r>
              <a:t>AI Support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657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1A1AA"/>
                </a:solidFill>
                <a:latin typeface="Helvetica Neue"/>
              </a:defRPr>
            </a:pPr>
            <a:r>
              <a:t>Accurate, cited answers from 300+ documentation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1717A"/>
                </a:solidFill>
                <a:latin typeface="Helvetica Neue"/>
              </a:defRPr>
            </a:pPr>
            <a:r>
              <a:t>Juan Suarez  •  April 2026  •  Job Application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7200"/>
            <a:ext cx="45720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6807200"/>
            <a:ext cx="7619695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riggeri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2011680"/>
            <a:ext cx="2743200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Helvetica Neue"/>
              </a:defRPr>
            </a:pPr>
            <a:r>
              <a:t>1/24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691640"/>
            <a:ext cx="1645920" cy="38100"/>
          </a:xfrm>
          <a:prstGeom prst="rect">
            <a:avLst/>
          </a:prstGeom>
          <a:solidFill>
            <a:srgbClr val="41F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Helvetica Neue"/>
              </a:defRPr>
            </a:pPr>
            <a:r>
              <a:t>Agenda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20040"/>
            <a:ext cx="1813560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Helvetica Neue"/>
              </a:defRPr>
            </a:pPr>
            <a:r>
              <a:t>2/24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F5F5F5"/>
                </a:solidFill>
                <a:latin typeface="Helvetica Neue"/>
              </a:defRPr>
            </a:pPr>
            <a:r>
              <a:t>1.  The Challenge</a:t>
            </a:r>
          </a:p>
          <a:p>
            <a:pPr>
              <a:spcAft>
                <a:spcPts val="1000"/>
              </a:spcAft>
              <a:defRPr sz="2100">
                <a:solidFill>
                  <a:srgbClr val="F5F5F5"/>
                </a:solidFill>
                <a:latin typeface="Helvetica Neue"/>
              </a:defRPr>
            </a:pPr>
            <a:r>
              <a:t>2.  Dry Run: Getting Started with chat.agent()</a:t>
            </a:r>
          </a:p>
          <a:p>
            <a:pPr>
              <a:spcAft>
                <a:spcPts val="1000"/>
              </a:spcAft>
              <a:defRPr sz="2100">
                <a:solidFill>
                  <a:srgbClr val="F5F5F5"/>
                </a:solidFill>
                <a:latin typeface="Helvetica Neue"/>
              </a:defRPr>
            </a:pPr>
            <a:r>
              <a:t>3.  Architecture &amp; Tech Stack</a:t>
            </a:r>
          </a:p>
          <a:p>
            <a:pPr>
              <a:spcAft>
                <a:spcPts val="1000"/>
              </a:spcAft>
              <a:defRPr sz="2100">
                <a:solidFill>
                  <a:srgbClr val="F5F5F5"/>
                </a:solidFill>
                <a:latin typeface="Helvetica Neue"/>
              </a:defRPr>
            </a:pPr>
            <a:r>
              <a:t>4.  Implementation Phases</a:t>
            </a:r>
          </a:p>
          <a:p>
            <a:pPr>
              <a:spcAft>
                <a:spcPts val="1000"/>
              </a:spcAft>
              <a:defRPr sz="2100">
                <a:solidFill>
                  <a:srgbClr val="F5F5F5"/>
                </a:solidFill>
                <a:latin typeface="Helvetica Neue"/>
              </a:defRPr>
            </a:pPr>
            <a:r>
              <a:t>5.  Prerelease SDK Bugs &amp; Workarounds</a:t>
            </a:r>
          </a:p>
          <a:p>
            <a:pPr>
              <a:spcAft>
                <a:spcPts val="1000"/>
              </a:spcAft>
              <a:defRPr sz="2100">
                <a:solidFill>
                  <a:srgbClr val="F5F5F5"/>
                </a:solidFill>
                <a:latin typeface="Helvetica Neue"/>
              </a:defRPr>
            </a:pPr>
            <a:r>
              <a:t>6.  RAG Quality: Evaluation &amp; Improvement Cycles</a:t>
            </a:r>
          </a:p>
          <a:p>
            <a:pPr>
              <a:spcAft>
                <a:spcPts val="1000"/>
              </a:spcAft>
              <a:defRPr sz="2100">
                <a:solidFill>
                  <a:srgbClr val="F5F5F5"/>
                </a:solidFill>
                <a:latin typeface="Helvetica Neue"/>
              </a:defRPr>
            </a:pPr>
            <a:r>
              <a:t>7.  Results: 5.8 → 8.8 → 9.3 / 10</a:t>
            </a:r>
          </a:p>
          <a:p>
            <a:pPr>
              <a:spcAft>
                <a:spcPts val="1000"/>
              </a:spcAft>
              <a:defRPr sz="2100">
                <a:solidFill>
                  <a:srgbClr val="F5F5F5"/>
                </a:solidFill>
                <a:latin typeface="Helvetica Neue"/>
              </a:defRPr>
            </a:pPr>
            <a:r>
              <a:t>8.  Production Deployment</a:t>
            </a:r>
          </a:p>
          <a:p>
            <a:pPr>
              <a:spcAft>
                <a:spcPts val="1000"/>
              </a:spcAft>
              <a:defRPr sz="2100">
                <a:solidFill>
                  <a:srgbClr val="F5F5F5"/>
                </a:solidFill>
                <a:latin typeface="Helvetica Neue"/>
              </a:defRPr>
            </a:pPr>
            <a:r>
              <a:t>9.  Honest Gaps: What's NOT Production-Ready</a:t>
            </a:r>
          </a:p>
          <a:p>
            <a:pPr>
              <a:spcAft>
                <a:spcPts val="1000"/>
              </a:spcAft>
              <a:defRPr sz="2100">
                <a:solidFill>
                  <a:srgbClr val="F5F5F5"/>
                </a:solidFill>
                <a:latin typeface="Helvetica Neue"/>
              </a:defRPr>
            </a:pPr>
            <a:r>
              <a:t>10. Roadmap to World-Class Support Agent</a:t>
            </a:r>
          </a:p>
          <a:p>
            <a:pPr>
              <a:spcAft>
                <a:spcPts val="1000"/>
              </a:spcAft>
              <a:defRPr sz="2100">
                <a:solidFill>
                  <a:srgbClr val="F5F5F5"/>
                </a:solidFill>
                <a:latin typeface="Helvetica Neue"/>
              </a:defRPr>
            </a:pPr>
            <a:r>
              <a:t>11. Developer Experience Feedback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691640"/>
            <a:ext cx="1645920" cy="38100"/>
          </a:xfrm>
          <a:prstGeom prst="rect">
            <a:avLst/>
          </a:prstGeom>
          <a:solidFill>
            <a:srgbClr val="41F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Helvetica Neue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7451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1A1AA"/>
                </a:solidFill>
                <a:latin typeface="Helvetica Neue"/>
              </a:defRPr>
            </a:pPr>
            <a:r>
              <a:t>Build a support agent that actually works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20040"/>
            <a:ext cx="1813560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Helvetica Neue"/>
              </a:defRPr>
            </a:pPr>
            <a:r>
              <a:t>3/24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F5F5F5"/>
                </a:solidFill>
                <a:latin typeface="Helvetica Neue"/>
              </a:defRPr>
            </a:pPr>
            <a:r>
              <a:t>The brief:</a:t>
            </a:r>
          </a:p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  <a:latin typeface="Helvetica Neue"/>
              </a:defRPr>
            </a:pPr>
            <a:r>
              <a:t>"Build a Trigger.dev support agent using chat.agent() that answers</a:t>
            </a:r>
          </a:p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  <a:latin typeface="Helvetica Neue"/>
              </a:defRPr>
            </a:pPr>
            <a:r>
              <a:t>questions accurately. Walk us through your plan, what you built,</a:t>
            </a:r>
          </a:p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  <a:latin typeface="Helvetica Neue"/>
              </a:defRPr>
            </a:pPr>
            <a:r>
              <a:t>and how you'd turn it into a world-class agent."</a:t>
            </a:r>
          </a:p>
          <a:p>
            <a:pPr>
              <a:spcAft>
                <a:spcPts val="1000"/>
              </a:spcAft>
              <a:defRPr sz="1500">
                <a:latin typeface="Helvetica Neue"/>
              </a:defRPr>
            </a:pPr>
          </a:p>
          <a:p>
            <a:pPr>
              <a:spcAft>
                <a:spcPts val="1000"/>
              </a:spcAft>
              <a:defRPr sz="1900">
                <a:solidFill>
                  <a:srgbClr val="F5F5F5"/>
                </a:solidFill>
                <a:latin typeface="Helvetica Neue"/>
              </a:defRPr>
            </a:pPr>
            <a:r>
              <a:t>What makes this hard:</a:t>
            </a:r>
          </a:p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  <a:latin typeface="Helvetica Neue"/>
              </a:defRPr>
            </a:pPr>
            <a:r>
              <a:t>300+ MDX docs pages covering tasks, scheduling, concurrency, realtime, ...</a:t>
            </a:r>
          </a:p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  <a:latin typeface="Helvetica Neue"/>
              </a:defRPr>
            </a:pPr>
            <a:r>
              <a:t>Developers ask natural language that doesn't map to SDK terminology</a:t>
            </a:r>
          </a:p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  <a:latin typeface="Helvetica Neue"/>
              </a:defRPr>
            </a:pPr>
            <a:r>
              <a:t>Prerelease SDK with incomplete docs and undiscovered bugs</a:t>
            </a:r>
          </a:p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  <a:latin typeface="Helvetica Neue"/>
              </a:defRPr>
            </a:pPr>
            <a:r>
              <a:t>5-hour window — need to scope aggressively</a:t>
            </a:r>
          </a:p>
          <a:p>
            <a:pPr>
              <a:spcAft>
                <a:spcPts val="1000"/>
              </a:spcAft>
              <a:defRPr sz="1500">
                <a:latin typeface="Helvetica Neue"/>
              </a:defRPr>
            </a:pPr>
          </a:p>
          <a:p>
            <a:pPr>
              <a:spcAft>
                <a:spcPts val="1000"/>
              </a:spcAft>
              <a:defRPr sz="1900">
                <a:solidFill>
                  <a:srgbClr val="F5F5F5"/>
                </a:solidFill>
                <a:latin typeface="Helvetica Neue"/>
              </a:defRPr>
            </a:pPr>
            <a:r>
              <a:t>My interpretation:</a:t>
            </a:r>
          </a:p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  <a:latin typeface="Helvetica Neue"/>
              </a:defRPr>
            </a:pPr>
            <a:r>
              <a:t>Ship something that genuinely works, not a toy demo</a:t>
            </a:r>
          </a:p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  <a:latin typeface="Helvetica Neue"/>
              </a:defRPr>
            </a:pPr>
            <a:r>
              <a:t>Show the thinking, not just the code</a:t>
            </a:r>
          </a:p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  <a:latin typeface="Helvetica Neue"/>
              </a:defRPr>
            </a:pPr>
            <a:r>
              <a:t>Be honest about what's missing and what comes next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691640"/>
            <a:ext cx="1645920" cy="38100"/>
          </a:xfrm>
          <a:prstGeom prst="rect">
            <a:avLst/>
          </a:prstGeom>
          <a:solidFill>
            <a:srgbClr val="41F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Helvetica Neue"/>
              </a:defRPr>
            </a:pPr>
            <a:r>
              <a:t>Initial Thoughts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7451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1A1AA"/>
                </a:solidFill>
                <a:latin typeface="Helvetica Neue"/>
              </a:defRPr>
            </a:pPr>
            <a:r>
              <a:t>Two approaches considered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20040"/>
            <a:ext cx="1813560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Helvetica Neue"/>
              </a:defRPr>
            </a:pPr>
            <a:r>
              <a:t>4/24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  <a:latin typeface="Helvetica Neue"/>
              </a:defRPr>
            </a:pPr>
            <a:r>
              <a:t>Option A: On-demand fetch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5F5"/>
                </a:solidFill>
                <a:latin typeface="Helvetica Neue"/>
              </a:defRPr>
            </a:pPr>
            <a:r>
              <a:t>MCP servers / inline functions (fetchDoc, listDocs)</a:t>
            </a:r>
          </a:p>
          <a:p>
            <a:pPr>
              <a:spcAft>
                <a:spcPts val="1000"/>
              </a:spcAft>
              <a:defRPr sz="1700">
                <a:solidFill>
                  <a:srgbClr val="F5F5F5"/>
                </a:solidFill>
                <a:latin typeface="Helvetica Neue"/>
              </a:defRPr>
            </a:pPr>
            <a:r>
              <a:t>Simple but slow, no semantic search, poor recall</a:t>
            </a:r>
          </a:p>
          <a:p>
            <a:pPr>
              <a:spcAft>
                <a:spcPts val="1000"/>
              </a:spcAft>
              <a:defRPr sz="1700">
                <a:solidFill>
                  <a:srgbClr val="F5F5F5"/>
                </a:solidFill>
                <a:latin typeface="Helvetica Neue"/>
              </a:defRPr>
            </a:pPr>
            <a:r>
              <a:t>Every question = multiple API calls to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1FF54"/>
                </a:solidFill>
                <a:latin typeface="Helvetica Neue"/>
              </a:defRPr>
            </a:pPr>
            <a:r>
              <a:t>Option B: Full RAG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9260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5F5"/>
                </a:solidFill>
                <a:latin typeface="Helvetica Neue"/>
              </a:defRPr>
            </a:pPr>
            <a:r>
              <a:t>Pre-index all docs into a vector database</a:t>
            </a:r>
          </a:p>
          <a:p>
            <a:pPr>
              <a:spcAft>
                <a:spcPts val="1000"/>
              </a:spcAft>
              <a:defRPr sz="1700">
                <a:solidFill>
                  <a:srgbClr val="F5F5F5"/>
                </a:solidFill>
                <a:latin typeface="Helvetica Neue"/>
              </a:defRPr>
            </a:pPr>
            <a:r>
              <a:t>Hybrid search (vector + BM25) for semantic + exact</a:t>
            </a:r>
          </a:p>
          <a:p>
            <a:pPr>
              <a:spcAft>
                <a:spcPts val="1000"/>
              </a:spcAft>
              <a:defRPr sz="1700">
                <a:solidFill>
                  <a:srgbClr val="F5F5F5"/>
                </a:solidFill>
                <a:latin typeface="Helvetica Neue"/>
              </a:defRPr>
            </a:pPr>
            <a:r>
              <a:t>Run everything as Trigger.dev tasks</a:t>
            </a:r>
          </a:p>
          <a:p>
            <a:pPr>
              <a:spcAft>
                <a:spcPts val="1000"/>
              </a:spcAft>
              <a:defRPr sz="1700">
                <a:solidFill>
                  <a:srgbClr val="F5F5F5"/>
                </a:solidFill>
                <a:latin typeface="Helvetica Neue"/>
              </a:defRPr>
            </a:pPr>
            <a:r>
              <a:t>Full observability in the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4846320"/>
            <a:ext cx="10058400" cy="109728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9834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FF53"/>
                </a:solidFill>
                <a:latin typeface="Helvetica Neue"/>
              </a:defRPr>
            </a:pPr>
            <a:r>
              <a:t>Decision: Option B — demonstrates Trigger.dev's strengths:</a:t>
            </a:r>
            <a:br/>
            <a:r>
              <a:t>long-running tasks, observability, background processing, and chat.agent() streaming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691640"/>
            <a:ext cx="1645920" cy="38100"/>
          </a:xfrm>
          <a:prstGeom prst="rect">
            <a:avLst/>
          </a:prstGeom>
          <a:solidFill>
            <a:srgbClr val="41F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Helvetica Neue"/>
              </a:defRPr>
            </a:pPr>
            <a:r>
              <a:t>The Dry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7451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1A1AA"/>
                </a:solidFill>
                <a:latin typeface="Helvetica Neue"/>
              </a:defRPr>
            </a:pPr>
            <a:r>
              <a:t>First contact with the prerelease SDK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20040"/>
            <a:ext cx="1813560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Helvetica Neue"/>
              </a:defRPr>
            </a:pPr>
            <a:r>
              <a:t>5/24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F5F5F5"/>
                </a:solidFill>
                <a:latin typeface="Helvetica Neue"/>
              </a:defRPr>
            </a:pPr>
            <a:r>
              <a:t>1.  npx create-next-app@latest — Next.js 16, React 19, Turbopack</a:t>
            </a:r>
          </a:p>
          <a:p>
            <a:pPr>
              <a:spcAft>
                <a:spcPts val="1000"/>
              </a:spcAft>
              <a:defRPr sz="1900">
                <a:solidFill>
                  <a:srgbClr val="F5F5F5"/>
                </a:solidFill>
                <a:latin typeface="Helvetica Neue"/>
              </a:defRPr>
            </a:pPr>
            <a:r>
              <a:t>2.  npm install @trigger.dev/sdk@0.0.0-chat-prerelease-20260415164455</a:t>
            </a:r>
          </a:p>
          <a:p>
            <a:pPr>
              <a:spcAft>
                <a:spcPts val="1000"/>
              </a:spcAft>
              <a:defRPr sz="1900">
                <a:solidFill>
                  <a:srgbClr val="F5F5F5"/>
                </a:solidFill>
                <a:latin typeface="Helvetica Neue"/>
              </a:defRPr>
            </a:pPr>
            <a:r>
              <a:t>3.  npx trigger dev — initialized project, got secret keys</a:t>
            </a:r>
          </a:p>
          <a:p>
            <a:pPr>
              <a:spcAft>
                <a:spcPts val="1000"/>
              </a:spcAft>
              <a:defRPr sz="1900">
                <a:solidFill>
                  <a:srgbClr val="F5F5F5"/>
                </a:solidFill>
                <a:latin typeface="Helvetica Neue"/>
              </a:defRPr>
            </a:pPr>
            <a:r>
              <a:t>4.  Installed AI Elements components (conversation, message, shimmer ...)</a:t>
            </a:r>
          </a:p>
          <a:p>
            <a:pPr>
              <a:spcAft>
                <a:spcPts val="1000"/>
              </a:spcAft>
              <a:defRPr sz="1900">
                <a:solidFill>
                  <a:srgbClr val="F5F5F5"/>
                </a:solidFill>
                <a:latin typeface="Helvetica Neue"/>
              </a:defRPr>
            </a:pPr>
            <a:r>
              <a:t>5.  Installed LanceDB, AI SDK, OpenRouter adapter</a:t>
            </a:r>
          </a:p>
          <a:p>
            <a:pPr>
              <a:spcAft>
                <a:spcPts val="1000"/>
              </a:spcAft>
              <a:defRPr sz="1500">
                <a:latin typeface="Helvetica Neue"/>
              </a:defRPr>
            </a:pPr>
          </a:p>
          <a:p>
            <a:pPr>
              <a:spcAft>
                <a:spcPts val="1000"/>
              </a:spcAft>
              <a:defRPr sz="1900">
                <a:solidFill>
                  <a:srgbClr val="F5F5F5"/>
                </a:solidFill>
                <a:latin typeface="Helvetica Neue"/>
              </a:defRPr>
            </a:pPr>
            <a:r>
              <a:t>First surprises:</a:t>
            </a:r>
          </a:p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  <a:latin typeface="Helvetica Neue"/>
              </a:defRPr>
            </a:pPr>
            <a:r>
              <a:t>CLI binary is "trigger", not "trigger.dev" (docs mismatch)</a:t>
            </a:r>
          </a:p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  <a:latin typeface="Helvetica Neue"/>
              </a:defRPr>
            </a:pPr>
            <a:r>
              <a:t>task() doesn't accept schema — need schemaTask()</a:t>
            </a:r>
          </a:p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  <a:latin typeface="Helvetica Neue"/>
              </a:defRPr>
            </a:pPr>
            <a:r>
              <a:t>Next.js 16 APIs differ from training data</a:t>
            </a:r>
          </a:p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  <a:latin typeface="Helvetica Neue"/>
              </a:defRPr>
            </a:pPr>
            <a:r>
              <a:t>LanceDB native binary can't be bundled by Turbopack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691640"/>
            <a:ext cx="1645920" cy="38100"/>
          </a:xfrm>
          <a:prstGeom prst="rect">
            <a:avLst/>
          </a:prstGeom>
          <a:solidFill>
            <a:srgbClr val="41F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Helvetica Neue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7451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1A1AA"/>
                </a:solidFill>
                <a:latin typeface="Helvetica Neue"/>
              </a:defRPr>
            </a:pPr>
            <a:r>
              <a:t>End-to-end system design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20040"/>
            <a:ext cx="1813560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Helvetica Neue"/>
              </a:defRPr>
            </a:pPr>
            <a:r>
              <a:t>6/24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031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1FF54"/>
                </a:solidFill>
                <a:latin typeface="Menlo"/>
              </a:defRPr>
            </a:pPr>
            <a:r>
              <a:t>User Question</a:t>
            </a:r>
            <a:br/>
            <a:r>
              <a:t>     │</a:t>
            </a:r>
            <a:br/>
            <a:r>
              <a:t>     ▼</a:t>
            </a:r>
            <a:br/>
            <a:r>
              <a:t>Next.js Frontend  (useTriggerChatTransport)</a:t>
            </a:r>
            <a:br/>
            <a:r>
              <a:t>     │</a:t>
            </a:r>
            <a:br/>
            <a:r>
              <a:t>     ▼  getChatToken() server action</a:t>
            </a:r>
            <a:br/>
            <a:r>
              <a:t>     │</a:t>
            </a:r>
            <a:br/>
            <a:r>
              <a:t>     ▼</a:t>
            </a:r>
            <a:br/>
            <a:r>
              <a:t>Trigger.dev Worker:  chat.agent('trigger-support')</a:t>
            </a:r>
            <a:br/>
            <a:r>
              <a:t>     │</a:t>
            </a:r>
            <a:br/>
            <a:r>
              <a:t>     ├───▶  expandQuery()   — Gemini rewrites to SDK terms</a:t>
            </a:r>
            <a:br/>
            <a:r>
              <a:t>     ├───▶  runSearch()     — Hybrid: Vector + BM25 + RRF</a:t>
            </a:r>
            <a:br/>
            <a:r>
              <a:t>     ├───▶  buildContext()  — Format chunks as Markdown</a:t>
            </a:r>
            <a:br/>
            <a:r>
              <a:t>     ├───▶  streamText()   — Gemini 3 Flash streams answer</a:t>
            </a:r>
            <a:br/>
            <a:r>
              <a:t>     │</a:t>
            </a:r>
            <a:br/>
            <a:r>
              <a:t>     ▼</a:t>
            </a:r>
            <a:br/>
            <a:r>
              <a:t>Stream to UI — Citation badges + Sources list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691640"/>
            <a:ext cx="1645920" cy="38100"/>
          </a:xfrm>
          <a:prstGeom prst="rect">
            <a:avLst/>
          </a:prstGeom>
          <a:solidFill>
            <a:srgbClr val="41F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Helvetica Neue"/>
              </a:defRPr>
            </a:pPr>
            <a:r>
              <a:t>Tech Stack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20040"/>
            <a:ext cx="1813560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Helvetica Neue"/>
              </a:defRPr>
            </a:pPr>
            <a:r>
              <a:t>7/24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1A1AA"/>
                </a:solidFill>
                <a:latin typeface="Helvetica Neue"/>
              </a:defRPr>
            </a:pPr>
            <a:r>
              <a:t>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194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5F5F5"/>
                </a:solidFill>
                <a:latin typeface="Helvetica Neue"/>
              </a:defRPr>
            </a:pPr>
            <a:r>
              <a:t>Next.js 16 (App Router, React 19, Turbopack)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1A1AA"/>
                </a:solidFill>
                <a:latin typeface="Helvetica Neue"/>
              </a:defRPr>
            </a:pPr>
            <a:r>
              <a:t>Chat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697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5F5F5"/>
                </a:solidFill>
                <a:latin typeface="Helvetica Neue"/>
              </a:defRPr>
            </a:pPr>
            <a:r>
              <a:t>@trigger.dev/sdk chat.agent() prerelease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1A1AA"/>
                </a:solidFill>
                <a:latin typeface="Helvetica Neue"/>
              </a:defRPr>
            </a:pPr>
            <a:r>
              <a:t>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200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5F5F5"/>
                </a:solidFill>
                <a:latin typeface="Helvetica Neue"/>
              </a:defRPr>
            </a:pPr>
            <a:r>
              <a:t>Google Gemini 3 Flash via OpenRouter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03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1A1AA"/>
                </a:solidFill>
                <a:latin typeface="Helvetica Neue"/>
              </a:defRPr>
            </a:pPr>
            <a:r>
              <a:t>Embeddings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703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5F5F5"/>
                </a:solidFill>
                <a:latin typeface="Helvetica Neue"/>
              </a:defRPr>
            </a:pPr>
            <a:r>
              <a:t>OpenAI text-embedding-3-small (1536 dims)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1A1AA"/>
                </a:solidFill>
                <a:latin typeface="Helvetica Neue"/>
              </a:defRPr>
            </a:pPr>
            <a:r>
              <a:t>Vector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206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5F5F5"/>
                </a:solidFill>
                <a:latin typeface="Helvetica Neue"/>
              </a:defRPr>
            </a:pPr>
            <a:r>
              <a:t>LanceDB (embedded Rust binary, worker-only)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709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1A1AA"/>
                </a:solidFill>
                <a:latin typeface="Helvetica Neue"/>
              </a:defRPr>
            </a:pPr>
            <a:r>
              <a:t>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709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5F5F5"/>
                </a:solidFill>
                <a:latin typeface="Helvetica Neue"/>
              </a:defRPr>
            </a:pPr>
            <a:r>
              <a:t>Hybrid BM25 + Vector with RRF Reranking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212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1A1AA"/>
                </a:solidFill>
                <a:latin typeface="Helvetica Neue"/>
              </a:defRPr>
            </a:pPr>
            <a:r>
              <a:t>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5212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5F5F5"/>
                </a:solidFill>
                <a:latin typeface="Helvetica Neue"/>
              </a:defRPr>
            </a:pPr>
            <a:r>
              <a:t>AI Elements + shadcn/ui + Streamdown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715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1A1AA"/>
                </a:solidFill>
                <a:latin typeface="Helvetica Neue"/>
              </a:defRPr>
            </a:pPr>
            <a:r>
              <a:t>Styling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5715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5F5F5"/>
                </a:solidFill>
                <a:latin typeface="Helvetica Neue"/>
              </a:defRPr>
            </a:pPr>
            <a:r>
              <a:t>Tailwind CSS v4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691640"/>
            <a:ext cx="1645920" cy="38100"/>
          </a:xfrm>
          <a:prstGeom prst="rect">
            <a:avLst/>
          </a:prstGeom>
          <a:solidFill>
            <a:srgbClr val="41F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Helvetica Neue"/>
              </a:defRPr>
            </a:pPr>
            <a:r>
              <a:t>Implementation Phases 1–5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7451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1A1AA"/>
                </a:solidFill>
                <a:latin typeface="Helvetica Neue"/>
              </a:defRPr>
            </a:pPr>
            <a:r>
              <a:t>Foundation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20040"/>
            <a:ext cx="1813560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Helvetica Neue"/>
              </a:defRPr>
            </a:pPr>
            <a:r>
              <a:t>8/24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Phase 1: Design Discussion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Chose RAG over MCP/inline fetch. LanceDB for embedded hybrid search.</a:t>
            </a:r>
          </a:p>
          <a:p>
            <a:pPr>
              <a:spcAft>
                <a:spcPts val="1000"/>
              </a:spcAft>
              <a:defRPr sz="1400">
                <a:latin typeface="Helvetica Neue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Phase 2: Indexing Pipeline  (trigger/indexDocs.ts)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GitHub Tree API → 313 MDX files → section chunking → embeddings → LanceDB</a:t>
            </a:r>
          </a:p>
          <a:p>
            <a:pPr>
              <a:spcAft>
                <a:spcPts val="1000"/>
              </a:spcAft>
              <a:defRPr sz="1400">
                <a:latin typeface="Helvetica Neue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Phase 3: Search Pipeline  (trigger/searchDocs.ts)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Hybrid vector + BM25 + RRF reranking. schemaTask for dashboard testing.</a:t>
            </a:r>
          </a:p>
          <a:p>
            <a:pPr>
              <a:spcAft>
                <a:spcPts val="1000"/>
              </a:spcAft>
              <a:defRPr sz="1400">
                <a:latin typeface="Helvetica Neue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Phase 4: Chat Agent  (trigger/chat.ts)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chat.agent() with streamText. Hit two critical SDK bugs (next slide).</a:t>
            </a:r>
          </a:p>
          <a:p>
            <a:pPr>
              <a:spcAft>
                <a:spcPts val="1000"/>
              </a:spcAft>
              <a:defRPr sz="1400">
                <a:latin typeface="Helvetica Neue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Phase 5: First Successful Chat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Pre-fetch pattern working. Gemini streaming answers with inline citations.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691640"/>
            <a:ext cx="1645920" cy="38100"/>
          </a:xfrm>
          <a:prstGeom prst="rect">
            <a:avLst/>
          </a:prstGeom>
          <a:solidFill>
            <a:srgbClr val="41F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Helvetica Neue"/>
              </a:defRPr>
            </a:pPr>
            <a:r>
              <a:t>Prerelease SDK Bugs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7451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1A1AA"/>
                </a:solidFill>
                <a:latin typeface="Helvetica Neue"/>
              </a:defRPr>
            </a:pPr>
            <a:r>
              <a:t>Two blockers discovered, both worked around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20040"/>
            <a:ext cx="1813560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Helvetica Neue"/>
              </a:defRPr>
            </a:pPr>
            <a:r>
              <a:t>9/24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194560"/>
            <a:ext cx="4846320" cy="36576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3317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Helvetica Neue"/>
              </a:defRPr>
            </a:pPr>
            <a:r>
              <a:t>Bug 1: maxSteps broken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Helvetica Neue"/>
              </a:defRPr>
            </a:pPr>
            <a:r>
              <a:t>chat.agent() fires turn-complete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Helvetica Neue"/>
              </a:defRPr>
            </a:pPr>
            <a:r>
              <a:t>after first LLM finish event</a:t>
            </a:r>
          </a:p>
          <a:p>
            <a:pPr>
              <a:spcAft>
                <a:spcPts val="1000"/>
              </a:spcAft>
              <a:defRPr sz="1200"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Helvetica Neue"/>
              </a:defRPr>
            </a:pPr>
            <a:r>
              <a:t>Stream closes with finishReason: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Helvetica Neue"/>
              </a:defRPr>
            </a:pPr>
            <a:r>
              <a:t>"tool-calls" — no text delivered</a:t>
            </a:r>
          </a:p>
          <a:p>
            <a:pPr>
              <a:spcAft>
                <a:spcPts val="1000"/>
              </a:spcAft>
              <a:defRPr sz="1200"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Helvetica Neue"/>
              </a:defRPr>
            </a:pPr>
            <a:r>
              <a:t>Fix: Pre-fetch search results,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Helvetica Neue"/>
              </a:defRPr>
            </a:pPr>
            <a:r>
              <a:t>inject into system prompt,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Helvetica Neue"/>
              </a:defRPr>
            </a:pPr>
            <a:r>
              <a:t>single-step stream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194560"/>
            <a:ext cx="4846320" cy="36576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Helvetica Neue"/>
              </a:defRPr>
            </a:pPr>
            <a:r>
              <a:t>Bug 2: ai.toolExecute() hangs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3464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Helvetica Neue"/>
              </a:defRPr>
            </a:pPr>
            <a:r>
              <a:t>Parent run suspended at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Helvetica Neue"/>
              </a:defRPr>
            </a:pPr>
            <a:r>
              <a:t>Waitpoint waiting for webhook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Helvetica Neue"/>
              </a:defRPr>
            </a:pPr>
            <a:r>
              <a:t>that never fires</a:t>
            </a:r>
          </a:p>
          <a:p>
            <a:pPr>
              <a:spcAft>
                <a:spcPts val="1000"/>
              </a:spcAft>
              <a:defRPr sz="1200"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Helvetica Neue"/>
              </a:defRPr>
            </a:pPr>
            <a:r>
              <a:t>Run stuck in 'Suspended' state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Helvetica Neue"/>
              </a:defRPr>
            </a:pPr>
            <a:r>
              <a:t>indefinitely</a:t>
            </a:r>
          </a:p>
          <a:p>
            <a:pPr>
              <a:spcAft>
                <a:spcPts val="1000"/>
              </a:spcAft>
              <a:defRPr sz="1200"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Helvetica Neue"/>
              </a:defRPr>
            </a:pPr>
            <a:r>
              <a:t>Fix: Call runSearch() directly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Helvetica Neue"/>
              </a:defRPr>
            </a:pPr>
            <a:r>
              <a:t>as a plain async function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691640"/>
            <a:ext cx="1645920" cy="38100"/>
          </a:xfrm>
          <a:prstGeom prst="rect">
            <a:avLst/>
          </a:prstGeom>
          <a:solidFill>
            <a:srgbClr val="41F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Helvetica Neue"/>
              </a:defRPr>
            </a:pPr>
            <a:r>
              <a:t>Implementation Phases 6–10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7451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1A1AA"/>
                </a:solidFill>
                <a:latin typeface="Helvetica Neue"/>
              </a:defRPr>
            </a:pPr>
            <a:r>
              <a:t>UI, polish &amp; documentation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20040"/>
            <a:ext cx="1813560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Helvetica Neue"/>
              </a:defRPr>
            </a:pPr>
            <a:r>
              <a:t>10/24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Phase 6: Citation UI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Inline badges with hover cards, regex parsing of ([label](url)) pattern</a:t>
            </a:r>
          </a:p>
          <a:p>
            <a:pPr>
              <a:spcAft>
                <a:spcPts val="1000"/>
              </a:spcAft>
              <a:defRPr sz="1400">
                <a:latin typeface="Helvetica Neue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Phase 7: UI Polish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Sources panel, layout scroll fix, header, Triggerito mascot, Streamdown fix</a:t>
            </a:r>
          </a:p>
          <a:p>
            <a:pPr>
              <a:spcAft>
                <a:spcPts val="1000"/>
              </a:spcAft>
              <a:defRPr sz="1400">
                <a:latin typeface="Helvetica Neue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Phase 8: Query Expansion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expandQuery() — Gemini rewrites natural language to SDK terms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10 domain-specific term mappings for common support topics</a:t>
            </a:r>
          </a:p>
          <a:p>
            <a:pPr>
              <a:spcAft>
                <a:spcPts val="1000"/>
              </a:spcAft>
              <a:defRPr sz="1400">
                <a:latin typeface="Helvetica Neue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Phase 9: Golden QA Evaluation Framework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6-question test suite with verified golden answers and scoring rubric</a:t>
            </a:r>
          </a:p>
          <a:p>
            <a:pPr>
              <a:spcAft>
                <a:spcPts val="1000"/>
              </a:spcAft>
              <a:defRPr sz="1400">
                <a:latin typeface="Helvetica Neue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Phase 10: Documentation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README, GUIDE (step-by-step build), AGENTS.md, evaluation reports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691640"/>
            <a:ext cx="1645920" cy="38100"/>
          </a:xfrm>
          <a:prstGeom prst="rect">
            <a:avLst/>
          </a:prstGeom>
          <a:solidFill>
            <a:srgbClr val="41F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Helvetica Neue"/>
              </a:defRPr>
            </a:pPr>
            <a:r>
              <a:t>RAG Pipeline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7451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1A1AA"/>
                </a:solidFill>
                <a:latin typeface="Helvetica Neue"/>
              </a:defRPr>
            </a:pPr>
            <a:r>
              <a:t>How search actually works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20040"/>
            <a:ext cx="1813560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Helvetica Neue"/>
              </a:defRPr>
            </a:pPr>
            <a:r>
              <a:t>11/24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1.  Query Expansion  (expandQuery)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"pause a job until human approves"  →  "wait.forToken waitpoint checkpoint"</a:t>
            </a:r>
          </a:p>
          <a:p>
            <a:pPr>
              <a:spcAft>
                <a:spcPts val="1000"/>
              </a:spcAft>
              <a:defRPr sz="1400">
                <a:latin typeface="Helvetica Neue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2.  Multi-Query Retrieval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Primary: expanded query (12 results) + Secondary: original query (6 results)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Merged by chunk ID, primary takes priority, capped at 12</a:t>
            </a:r>
          </a:p>
          <a:p>
            <a:pPr>
              <a:spcAft>
                <a:spcPts val="1000"/>
              </a:spcAft>
              <a:defRPr sz="1400">
                <a:latin typeface="Helvetica Neue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3.  Hybrid Search  (per query)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Vector: cosine similarity via text-embedding-3-small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BM25: full-text on content + section columns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RRF: Reciprocal Rank Fusion merges both rankings</a:t>
            </a:r>
          </a:p>
          <a:p>
            <a:pPr>
              <a:spcAft>
                <a:spcPts val="1000"/>
              </a:spcAft>
              <a:defRPr sz="1400">
                <a:latin typeface="Helvetica Neue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4.  Context Injection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Top chunks formatted as Markdown sections with source URLs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Prepended to system prompt before streamText()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691640"/>
            <a:ext cx="1645920" cy="38100"/>
          </a:xfrm>
          <a:prstGeom prst="rect">
            <a:avLst/>
          </a:prstGeom>
          <a:solidFill>
            <a:srgbClr val="41F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Helvetica Neue"/>
              </a:defRPr>
            </a:pPr>
            <a:r>
              <a:t>Evaluation: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7451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1A1AA"/>
                </a:solidFill>
                <a:latin typeface="Helvetica Neue"/>
              </a:defRPr>
            </a:pPr>
            <a:r>
              <a:t>First run — 5.8 / 10 overall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20040"/>
            <a:ext cx="1813560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Helvetica Neue"/>
              </a:defRPr>
            </a:pPr>
            <a:r>
              <a:t>12/24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1A1AA"/>
                </a:solidFill>
                <a:latin typeface="Helvetica Neue"/>
              </a:defRPr>
            </a:pPr>
            <a: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286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5F5"/>
                </a:solidFill>
                <a:latin typeface="Helvetica Neue"/>
              </a:defRPr>
            </a:pPr>
            <a:r>
              <a:t>Self-hosted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2860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Helvetica Neue"/>
              </a:defRPr>
            </a:pPr>
            <a:r>
              <a:t>3/10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286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F4444"/>
                </a:solidFill>
                <a:latin typeface="Helvetica Neue"/>
              </a:defRPr>
            </a:pPr>
            <a:r>
              <a:t>FAIL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974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1A1AA"/>
                </a:solidFill>
                <a:latin typeface="Helvetica Neue"/>
              </a:defRPr>
            </a:pPr>
            <a: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5F5"/>
                </a:solidFill>
                <a:latin typeface="Helvetica Neue"/>
              </a:defRPr>
            </a:pPr>
            <a:r>
              <a:t>triggerAndWait compute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697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1FF54"/>
                </a:solidFill>
                <a:latin typeface="Helvetica Neue"/>
              </a:defRPr>
            </a:pPr>
            <a:r>
              <a:t>9/10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697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1FF54"/>
                </a:solidFill>
                <a:latin typeface="Helvetica Neue"/>
              </a:defRPr>
            </a:pPr>
            <a:r>
              <a:t>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1089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1A1AA"/>
                </a:solidFill>
                <a:latin typeface="Helvetica Neue"/>
              </a:defRPr>
            </a:pPr>
            <a: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108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5F5"/>
                </a:solidFill>
                <a:latin typeface="Helvetica Neue"/>
              </a:defRPr>
            </a:pPr>
            <a:r>
              <a:t>Cron every 30 minutes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108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1FF54"/>
                </a:solidFill>
                <a:latin typeface="Helvetica Neue"/>
              </a:defRPr>
            </a:pPr>
            <a:r>
              <a:t>9/10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108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1FF54"/>
                </a:solidFill>
                <a:latin typeface="Helvetica Neue"/>
              </a:defRPr>
            </a:pPr>
            <a:r>
              <a:t>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520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1A1AA"/>
                </a:solidFill>
                <a:latin typeface="Helvetica Neue"/>
              </a:defRPr>
            </a:pPr>
            <a: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520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5F5"/>
                </a:solidFill>
                <a:latin typeface="Helvetica Neue"/>
              </a:defRPr>
            </a:pPr>
            <a:r>
              <a:t>Cost of runs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520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Helvetica Neue"/>
              </a:defRPr>
            </a:pPr>
            <a:r>
              <a:t>3/10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520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F4444"/>
                </a:solidFill>
                <a:latin typeface="Helvetica Neue"/>
              </a:defRPr>
            </a:pPr>
            <a:r>
              <a:t>FAIL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9319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1A1AA"/>
                </a:solidFill>
                <a:latin typeface="Helvetica Neue"/>
              </a:defRPr>
            </a:pPr>
            <a:r>
              <a:t>Q5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3931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5F5"/>
                </a:solidFill>
                <a:latin typeface="Helvetica Neue"/>
              </a:defRPr>
            </a:pPr>
            <a:r>
              <a:t>Exit task on criteria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931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Helvetica Neue"/>
              </a:defRPr>
            </a:pPr>
            <a:r>
              <a:t>4/10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931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F4444"/>
                </a:solidFill>
                <a:latin typeface="Helvetica Neue"/>
              </a:defRPr>
            </a:pPr>
            <a:r>
              <a:t>FAIL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3434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1A1AA"/>
                </a:solidFill>
                <a:latin typeface="Helvetica Neue"/>
              </a:defRPr>
            </a:pPr>
            <a:r>
              <a:t>Q6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4343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5F5"/>
                </a:solidFill>
                <a:latin typeface="Helvetica Neue"/>
              </a:defRPr>
            </a:pPr>
            <a:r>
              <a:t>Production secret key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3434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1FF54"/>
                </a:solidFill>
                <a:latin typeface="Helvetica Neue"/>
              </a:defRPr>
            </a:pPr>
            <a:r>
              <a:t>7/10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343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1FF54"/>
                </a:solidFill>
                <a:latin typeface="Helvetica Neue"/>
              </a:defRPr>
            </a:pPr>
            <a:r>
              <a:t>PASS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93776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Helvetica Neue"/>
              </a:defRPr>
            </a:pPr>
            <a:r>
              <a:t>Root causes:</a:t>
            </a:r>
          </a:p>
          <a:p>
            <a:pPr>
              <a:spcAft>
                <a:spcPts val="1000"/>
              </a:spcAft>
              <a:defRPr sz="1400">
                <a:solidFill>
                  <a:srgbClr val="A1A1AA"/>
                </a:solidFill>
                <a:latin typeface="Helvetica Neue"/>
              </a:defRPr>
            </a:pPr>
            <a:r>
              <a:t>Chunks too large (2500 chars) — tables and short sections dropped</a:t>
            </a:r>
          </a:p>
          <a:p>
            <a:pPr>
              <a:spcAft>
                <a:spcPts val="1000"/>
              </a:spcAft>
              <a:defRPr sz="1400">
                <a:solidFill>
                  <a:srgbClr val="A1A1AA"/>
                </a:solidFill>
                <a:latin typeface="Helvetica Neue"/>
              </a:defRPr>
            </a:pPr>
            <a:r>
              <a:t>Pre-heading content silently lost</a:t>
            </a:r>
          </a:p>
          <a:p>
            <a:pPr>
              <a:spcAft>
                <a:spcPts val="1000"/>
              </a:spcAft>
              <a:defRPr sz="1400">
                <a:solidFill>
                  <a:srgbClr val="A1A1AA"/>
                </a:solidFill>
                <a:latin typeface="Helvetica Neue"/>
              </a:defRPr>
            </a:pPr>
            <a:r>
              <a:t>Query expansion had no domain vocabulary</a:t>
            </a:r>
          </a:p>
          <a:p>
            <a:pPr>
              <a:spcAft>
                <a:spcPts val="1000"/>
              </a:spcAft>
              <a:defRPr sz="1400">
                <a:solidFill>
                  <a:srgbClr val="A1A1AA"/>
                </a:solidFill>
                <a:latin typeface="Helvetica Neue"/>
              </a:defRPr>
            </a:pPr>
            <a:r>
              <a:t>Retrieval depth too shallow (top 8)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691640"/>
            <a:ext cx="1645920" cy="38100"/>
          </a:xfrm>
          <a:prstGeom prst="rect">
            <a:avLst/>
          </a:prstGeom>
          <a:solidFill>
            <a:srgbClr val="41F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Helvetica Neue"/>
              </a:defRPr>
            </a:pPr>
            <a:r>
              <a:t>Round 2: Fixes Applied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7451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1A1AA"/>
                </a:solidFill>
                <a:latin typeface="Helvetica Neue"/>
              </a:defRPr>
            </a:pPr>
            <a:r>
              <a:t>Chunking, expansion, retrieval depth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20040"/>
            <a:ext cx="1813560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Helvetica Neue"/>
              </a:defRPr>
            </a:pPr>
            <a:r>
              <a:t>13/24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1.  Improved Chunking  (indexDocs.ts)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Cap: 2500 → 1500 chars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Added 200-char overlapping sub-chunks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Min body: 80 → 40 chars (captures tables and short sections)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Pre-heading intro content now captured as 'Overview' chunk</a:t>
            </a:r>
          </a:p>
          <a:p>
            <a:pPr>
              <a:spcAft>
                <a:spcPts val="1000"/>
              </a:spcAft>
              <a:defRPr sz="1400">
                <a:latin typeface="Helvetica Neue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2.  Query Expansion Vocabulary  (chat.ts)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10 domain mappings: cost → TRQL/compute_cost, exit → AbortTaskRunError, etc.</a:t>
            </a:r>
          </a:p>
          <a:p>
            <a:pPr>
              <a:spcAft>
                <a:spcPts val="1000"/>
              </a:spcAft>
              <a:defRPr sz="1400">
                <a:latin typeface="Helvetica Neue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3.  Retrieval Depth  (searchDocs.ts)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limit: 8 → 12 results</a:t>
            </a:r>
          </a:p>
          <a:p>
            <a:pPr>
              <a:spcAft>
                <a:spcPts val="1000"/>
              </a:spcAft>
              <a:defRPr sz="1400">
                <a:latin typeface="Helvetica Neue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Re-indexed: 313 files → 1,952 chunks  (up from ~800)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691640"/>
            <a:ext cx="1645920" cy="38100"/>
          </a:xfrm>
          <a:prstGeom prst="rect">
            <a:avLst/>
          </a:prstGeom>
          <a:solidFill>
            <a:srgbClr val="41F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Helvetica Neue"/>
              </a:defRPr>
            </a:pPr>
            <a:r>
              <a:t>Round 2: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7451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1A1AA"/>
                </a:solidFill>
                <a:latin typeface="Helvetica Neue"/>
              </a:defRPr>
            </a:pPr>
            <a:r>
              <a:t>5.8 → 8.8 / 10  (+3.0)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20040"/>
            <a:ext cx="1813560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Helvetica Neue"/>
              </a:defRPr>
            </a:pPr>
            <a:r>
              <a:t>14/24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1717A"/>
                </a:solidFill>
                <a:latin typeface="Helvetica Neue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73736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1717A"/>
                </a:solidFill>
                <a:latin typeface="Helvetica Neue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029200" y="22860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1717A"/>
                </a:solidFill>
                <a:latin typeface="Helvetica Neue"/>
              </a:defRPr>
            </a:pPr>
            <a: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2860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1717A"/>
                </a:solidFill>
                <a:latin typeface="Helvetica Neue"/>
              </a:defRPr>
            </a:pPr>
            <a:r>
              <a:t>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860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1717A"/>
                </a:solidFill>
                <a:latin typeface="Helvetica Neue"/>
              </a:defRPr>
            </a:pPr>
            <a:r>
              <a:t>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1717A"/>
                </a:solidFill>
                <a:latin typeface="Helvetica Neue"/>
              </a:defRPr>
            </a:pPr>
            <a:r>
              <a:t>Key improvement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517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1A1AA"/>
                </a:solidFill>
                <a:latin typeface="Helvetica Neue"/>
              </a:defRPr>
            </a:pPr>
            <a: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651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5F5"/>
                </a:solidFill>
                <a:latin typeface="Helvetica Neue"/>
              </a:defRPr>
            </a:pPr>
            <a:r>
              <a:t>Self-hosted 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6517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1A1AA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6517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1FF54"/>
                </a:solidFill>
                <a:latin typeface="Helvetica Neue"/>
              </a:defRPr>
            </a:pPr>
            <a: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6517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1FF54"/>
                </a:solidFill>
                <a:latin typeface="Helvetica Neue"/>
              </a:defRPr>
            </a:pPr>
            <a:r>
              <a:t>+5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Helvetica Neue"/>
              </a:defRPr>
            </a:pPr>
            <a:r>
              <a:t>Warm starts, auto-scaling, checkpoints surfaced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063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1A1AA"/>
                </a:solidFill>
                <a:latin typeface="Helvetica Neue"/>
              </a:defRPr>
            </a:pPr>
            <a:r>
              <a:t>Q2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063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5F5"/>
                </a:solidFill>
                <a:latin typeface="Helvetica Neue"/>
              </a:defRPr>
            </a:pPr>
            <a:r>
              <a:t>triggerAndWait compute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063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1A1AA"/>
                </a:solidFill>
                <a:latin typeface="Helvetica Neue"/>
              </a:defRPr>
            </a:pPr>
            <a: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063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1FF54"/>
                </a:solidFill>
                <a:latin typeface="Helvetica Neue"/>
              </a:defRPr>
            </a:pPr>
            <a: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063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1717A"/>
                </a:solidFill>
                <a:latin typeface="Helvetica Neue"/>
              </a:defRPr>
            </a:pPr>
            <a:r>
              <a:t>+0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063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Helvetica Neue"/>
              </a:defRPr>
            </a:pPr>
            <a:r>
              <a:t>Now uses 'checkpointed' term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4747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1A1AA"/>
                </a:solidFill>
                <a:latin typeface="Helvetica Neue"/>
              </a:defRPr>
            </a:pPr>
            <a:r>
              <a:t>Q3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3474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5F5"/>
                </a:solidFill>
                <a:latin typeface="Helvetica Neue"/>
              </a:defRPr>
            </a:pPr>
            <a:r>
              <a:t>Cron every 30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34747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1A1AA"/>
                </a:solidFill>
                <a:latin typeface="Helvetica Neue"/>
              </a:defRPr>
            </a:pPr>
            <a: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4747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1FF54"/>
                </a:solidFill>
                <a:latin typeface="Helvetica Neue"/>
              </a:defRPr>
            </a:pPr>
            <a: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4747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1717A"/>
                </a:solidFill>
                <a:latin typeface="Helvetica Neue"/>
              </a:defRPr>
            </a:pPr>
            <a:r>
              <a:t>+0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Helvetica Neue"/>
              </a:defRPr>
            </a:pPr>
            <a:r>
              <a:t>Both declarative and imperative approaches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3886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1A1AA"/>
                </a:solidFill>
                <a:latin typeface="Helvetica Neue"/>
              </a:defRPr>
            </a:pPr>
            <a:r>
              <a:t>Q4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3886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5F5"/>
                </a:solidFill>
                <a:latin typeface="Helvetica Neue"/>
              </a:defRPr>
            </a:pPr>
            <a:r>
              <a:t>Cost of runs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3886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1A1AA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3886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1FF54"/>
                </a:solidFill>
                <a:latin typeface="Helvetica Neue"/>
              </a:defRPr>
            </a:pPr>
            <a: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886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1FF54"/>
                </a:solidFill>
                <a:latin typeface="Helvetica Neue"/>
              </a:defRPr>
            </a:pPr>
            <a:r>
              <a:t>+6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3886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Helvetica Neue"/>
              </a:defRPr>
            </a:pPr>
            <a:r>
              <a:t>Full TRQL SQL query with compute_cost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42976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1A1AA"/>
                </a:solidFill>
                <a:latin typeface="Helvetica Neue"/>
              </a:defRPr>
            </a:pPr>
            <a:r>
              <a:t>Q5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37360" y="4297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5F5"/>
                </a:solidFill>
                <a:latin typeface="Helvetica Neue"/>
              </a:defRPr>
            </a:pPr>
            <a:r>
              <a:t>Exit task on criteria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42976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1A1AA"/>
                </a:solidFill>
                <a:latin typeface="Helvetica Neue"/>
              </a:defRPr>
            </a:pPr>
            <a: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42976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1FF54"/>
                </a:solidFill>
                <a:latin typeface="Helvetica Neue"/>
              </a:defRPr>
            </a:pPr>
            <a: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2976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1FF54"/>
                </a:solidFill>
                <a:latin typeface="Helvetica Neue"/>
              </a:defRPr>
            </a:pPr>
            <a:r>
              <a:t>+5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4297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Helvetica Neue"/>
              </a:defRPr>
            </a:pPr>
            <a:r>
              <a:t>Leads with AbortTaskRunError + code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47091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1A1AA"/>
                </a:solidFill>
                <a:latin typeface="Helvetica Neue"/>
              </a:defRPr>
            </a:pPr>
            <a:r>
              <a:t>Q6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37360" y="4709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5F5"/>
                </a:solidFill>
                <a:latin typeface="Helvetica Neue"/>
              </a:defRPr>
            </a:pPr>
            <a:r>
              <a:t>Secret key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47091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1A1AA"/>
                </a:solidFill>
                <a:latin typeface="Helvetica Neue"/>
              </a:defRPr>
            </a:pPr>
            <a: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47091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1FF54"/>
                </a:solidFill>
                <a:latin typeface="Helvetica Neue"/>
              </a:defRPr>
            </a:pPr>
            <a:r>
              <a:t>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47091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1FF54"/>
                </a:solidFill>
                <a:latin typeface="Helvetica Neue"/>
              </a:defRPr>
            </a:pPr>
            <a:r>
              <a:t>+2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4709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Helvetica Neue"/>
              </a:defRPr>
            </a:pPr>
            <a:r>
              <a:t>Includes tr_prod_ prefix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691640"/>
            <a:ext cx="1645920" cy="38100"/>
          </a:xfrm>
          <a:prstGeom prst="rect">
            <a:avLst/>
          </a:prstGeom>
          <a:solidFill>
            <a:srgbClr val="41F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Helvetica Neue"/>
              </a:defRPr>
            </a:pPr>
            <a:r>
              <a:t>Round 3: Fine-Tuning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7451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1A1AA"/>
                </a:solidFill>
                <a:latin typeface="Helvetica Neue"/>
              </a:defRPr>
            </a:pPr>
            <a:r>
              <a:t>Five additional improvements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20040"/>
            <a:ext cx="1813560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Helvetica Neue"/>
              </a:defRPr>
            </a:pPr>
            <a:r>
              <a:t>15/24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1.  Page Context Prefix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Each chunk: "Page: self-hosting/overview | Section: Feature Comparison"</a:t>
            </a:r>
          </a:p>
          <a:p>
            <a:pPr>
              <a:spcAft>
                <a:spcPts val="1000"/>
              </a:spcAft>
              <a:defRPr sz="1400">
                <a:latin typeface="Helvetica Neue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2.  Semantic JSX Tag Preservation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&lt;Note&gt;, &lt;Tip&gt;, &lt;Warning&gt; → **Note:** instead of stripped</a:t>
            </a:r>
          </a:p>
          <a:p>
            <a:pPr>
              <a:spcAft>
                <a:spcPts val="1000"/>
              </a:spcAft>
              <a:defRPr sz="1400">
                <a:latin typeface="Helvetica Neue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3.  Multi-Query Retrieval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Runs BOTH expanded + original query, merges + deduplicates</a:t>
            </a:r>
          </a:p>
          <a:p>
            <a:pPr>
              <a:spcAft>
                <a:spcPts val="1000"/>
              </a:spcAft>
              <a:defRPr sz="1400">
                <a:latin typeface="Helvetica Neue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4.  BM25 Index on 'section' Column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Heading-level matching: "declarative schedules" hits section titles</a:t>
            </a:r>
          </a:p>
          <a:p>
            <a:pPr>
              <a:spcAft>
                <a:spcPts val="1000"/>
              </a:spcAft>
              <a:defRPr sz="1400">
                <a:latin typeface="Helvetica Neue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5.  System Prompt Tuning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Always include env var names, key prefixes, numeric limits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691640"/>
            <a:ext cx="1645920" cy="38100"/>
          </a:xfrm>
          <a:prstGeom prst="rect">
            <a:avLst/>
          </a:prstGeom>
          <a:solidFill>
            <a:srgbClr val="41F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Helvetica Neue"/>
              </a:defRPr>
            </a:pPr>
            <a:r>
              <a:t>Final Results: 9.3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7451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1A1AA"/>
                </a:solidFill>
                <a:latin typeface="Helvetica Neue"/>
              </a:defRPr>
            </a:pPr>
            <a:r>
              <a:t>Three rounds of improvement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20040"/>
            <a:ext cx="1813560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Helvetica Neue"/>
              </a:defRPr>
            </a:pPr>
            <a:r>
              <a:t>16/24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194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1717A"/>
                </a:solidFill>
                <a:latin typeface="Helvetica Neue"/>
              </a:defRPr>
            </a:pPr>
            <a: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94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1717A"/>
                </a:solidFill>
                <a:latin typeface="Helvetica Neue"/>
              </a:defRPr>
            </a:pPr>
            <a:r>
              <a:t>Round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194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1717A"/>
                </a:solidFill>
                <a:latin typeface="Helvetica Neue"/>
              </a:defRPr>
            </a:pPr>
            <a:r>
              <a:t>Round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560320"/>
            <a:ext cx="7772400" cy="127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6974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1A1AA"/>
                </a:solidFill>
                <a:latin typeface="Helvetica Neue"/>
              </a:defRPr>
            </a:pPr>
            <a:r>
              <a:t>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697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5F5"/>
                </a:solidFill>
                <a:latin typeface="Helvetica Neue"/>
              </a:defRPr>
            </a:pPr>
            <a:r>
              <a:t>Self-hosted limits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6974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1A1AA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974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5F5"/>
                </a:solidFill>
                <a:latin typeface="Helvetica Neue"/>
              </a:defRPr>
            </a:pPr>
            <a: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6974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1FF54"/>
                </a:solidFill>
                <a:latin typeface="Helvetica Neue"/>
              </a:defRPr>
            </a:pPr>
            <a: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1089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1A1AA"/>
                </a:solidFill>
                <a:latin typeface="Helvetica Neue"/>
              </a:defRPr>
            </a:pPr>
            <a:r>
              <a:t>Q2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108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5F5"/>
                </a:solidFill>
                <a:latin typeface="Helvetica Neue"/>
              </a:defRPr>
            </a:pPr>
            <a:r>
              <a:t>Wait compute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1089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1A1AA"/>
                </a:solidFill>
                <a:latin typeface="Helvetica Neue"/>
              </a:defRPr>
            </a:pPr>
            <a: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089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5F5"/>
                </a:solidFill>
                <a:latin typeface="Helvetica Neue"/>
              </a:defRPr>
            </a:pPr>
            <a: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1089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5F5"/>
                </a:solidFill>
                <a:latin typeface="Helvetica Neue"/>
              </a:defRPr>
            </a:pPr>
            <a: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520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1A1AA"/>
                </a:solidFill>
                <a:latin typeface="Helvetica Neue"/>
              </a:defRPr>
            </a:pPr>
            <a:r>
              <a:t>Q3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520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5F5"/>
                </a:solidFill>
                <a:latin typeface="Helvetica Neue"/>
              </a:defRPr>
            </a:pPr>
            <a:r>
              <a:t>Cron every 30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3520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1A1AA"/>
                </a:solidFill>
                <a:latin typeface="Helvetica Neue"/>
              </a:defRPr>
            </a:pPr>
            <a: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520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5F5"/>
                </a:solidFill>
                <a:latin typeface="Helvetica Neue"/>
              </a:defRPr>
            </a:pPr>
            <a: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520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1FF54"/>
                </a:solidFill>
                <a:latin typeface="Helvetica Neue"/>
              </a:defRPr>
            </a:pPr>
            <a: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9319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1A1AA"/>
                </a:solidFill>
                <a:latin typeface="Helvetica Neue"/>
              </a:defRPr>
            </a:pPr>
            <a:r>
              <a:t>Q4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5F5"/>
                </a:solidFill>
                <a:latin typeface="Helvetica Neue"/>
              </a:defRPr>
            </a:pPr>
            <a:r>
              <a:t>Cost of runs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39319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1A1AA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9319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5F5"/>
                </a:solidFill>
                <a:latin typeface="Helvetica Neue"/>
              </a:defRPr>
            </a:pPr>
            <a: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39319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1FF54"/>
                </a:solidFill>
                <a:latin typeface="Helvetica Neue"/>
              </a:defRPr>
            </a:pPr>
            <a: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3434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1A1AA"/>
                </a:solidFill>
                <a:latin typeface="Helvetica Neue"/>
              </a:defRPr>
            </a:pPr>
            <a:r>
              <a:t>Q5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5F5"/>
                </a:solidFill>
                <a:latin typeface="Helvetica Neue"/>
              </a:defRPr>
            </a:pPr>
            <a:r>
              <a:t>Exit task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3434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1A1AA"/>
                </a:solidFill>
                <a:latin typeface="Helvetica Neue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3434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5F5"/>
                </a:solidFill>
                <a:latin typeface="Helvetica Neue"/>
              </a:defRPr>
            </a:pPr>
            <a: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43434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1FF54"/>
                </a:solidFill>
                <a:latin typeface="Helvetica Neue"/>
              </a:defRPr>
            </a:pPr>
            <a: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754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1A1AA"/>
                </a:solidFill>
                <a:latin typeface="Helvetica Neue"/>
              </a:defRPr>
            </a:pPr>
            <a:r>
              <a:t>Q6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37360" y="4754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5F5"/>
                </a:solidFill>
                <a:latin typeface="Helvetica Neue"/>
              </a:defRPr>
            </a:pPr>
            <a:r>
              <a:t>Secret key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47548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1A1AA"/>
                </a:solidFill>
                <a:latin typeface="Helvetica Neue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7548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5F5"/>
                </a:solidFill>
                <a:latin typeface="Helvetica Neue"/>
              </a:defRPr>
            </a:pPr>
            <a: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47548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1FF54"/>
                </a:solidFill>
                <a:latin typeface="Helvetica Neue"/>
              </a:defRPr>
            </a:pPr>
            <a:r>
              <a:t>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97280" y="5303520"/>
            <a:ext cx="7772400" cy="64008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71600" y="536752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1FF54"/>
                </a:solidFill>
                <a:latin typeface="Helvetica Neue"/>
              </a:defRPr>
            </a:pPr>
            <a:r>
              <a:t>Overall:  5.8  →  8.8  →  9.3 / 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691640"/>
            <a:ext cx="1645920" cy="38100"/>
          </a:xfrm>
          <a:prstGeom prst="rect">
            <a:avLst/>
          </a:prstGeom>
          <a:solidFill>
            <a:srgbClr val="41F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Helvetica Neue"/>
              </a:defRPr>
            </a:pPr>
            <a:r>
              <a:t>Production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7451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1A1AA"/>
                </a:solidFill>
                <a:latin typeface="Helvetica Neue"/>
              </a:defRPr>
            </a:pPr>
            <a:r>
              <a:t>Live at triggerdev-support.vercel.app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20040"/>
            <a:ext cx="1813560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Helvetica Neue"/>
              </a:defRPr>
            </a:pPr>
            <a:r>
              <a:t>17/24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Frontend:  Vercel (Next.js 16, serverless)</a:t>
            </a: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Worker:    Trigger.dev Cloud (tasks, search, chat agent)</a:t>
            </a: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Vector DB: LanceDB on worker filesystem</a:t>
            </a:r>
          </a:p>
          <a:p>
            <a:pPr>
              <a:spcAft>
                <a:spcPts val="1000"/>
              </a:spcAft>
              <a:defRPr sz="1400">
                <a:latin typeface="Helvetica Neue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Key insight: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Vercel's ephemeral filesystem is fine — all vector DB ops run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on the Trigger.dev worker, not on Vercel. API route only triggers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tasks by string ID.</a:t>
            </a:r>
          </a:p>
          <a:p>
            <a:pPr>
              <a:spcAft>
                <a:spcPts val="1000"/>
              </a:spcAft>
              <a:defRPr sz="1400">
                <a:latin typeface="Helvetica Neue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Deployment: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1. Deploy worker to Trigger.dev cloud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2. Set env vars in Vercel + Trigger.dev dashboard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3. curl -X POST .../api/index-docs  (one-time)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4. Ready to chat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691640"/>
            <a:ext cx="1645920" cy="38100"/>
          </a:xfrm>
          <a:prstGeom prst="rect">
            <a:avLst/>
          </a:prstGeom>
          <a:solidFill>
            <a:srgbClr val="41F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Helvetica Neue"/>
              </a:defRPr>
            </a:pPr>
            <a:r>
              <a:t>Honest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7451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1A1AA"/>
                </a:solidFill>
                <a:latin typeface="Helvetica Neue"/>
              </a:defRPr>
            </a:pPr>
            <a:r>
              <a:t>What's NOT production-ready today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20040"/>
            <a:ext cx="1813560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Helvetica Neue"/>
              </a:defRPr>
            </a:pPr>
            <a:r>
              <a:t>18/24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194560"/>
            <a:ext cx="3200400" cy="393192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Helvetica Neue"/>
              </a:defRPr>
            </a:pPr>
            <a:r>
              <a:t>Search &amp; 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A1A1AA"/>
                </a:solidFill>
                <a:latin typeface="Helvetica Neue"/>
              </a:defRPr>
            </a:pPr>
            <a:r>
              <a:t>Local LanceDB on single worker</a:t>
            </a:r>
          </a:p>
          <a:p>
            <a:pPr>
              <a:spcAft>
                <a:spcPts val="700"/>
              </a:spcAft>
              <a:defRPr sz="1500">
                <a:solidFill>
                  <a:srgbClr val="A1A1AA"/>
                </a:solidFill>
                <a:latin typeface="Helvetica Neue"/>
              </a:defRPr>
            </a:pPr>
            <a:r>
              <a:t>No shared state across instances</a:t>
            </a:r>
          </a:p>
          <a:p>
            <a:pPr>
              <a:spcAft>
                <a:spcPts val="700"/>
              </a:spcAft>
              <a:defRPr sz="1500">
                <a:solidFill>
                  <a:srgbClr val="A1A1AA"/>
                </a:solidFill>
                <a:latin typeface="Helvetica Neue"/>
              </a:defRPr>
            </a:pPr>
            <a:r>
              <a:t>No auto re-index on doc changes</a:t>
            </a:r>
          </a:p>
          <a:p>
            <a:pPr>
              <a:spcAft>
                <a:spcPts val="700"/>
              </a:spcAft>
              <a:defRPr sz="1500">
                <a:solidFill>
                  <a:srgbClr val="A1A1AA"/>
                </a:solidFill>
                <a:latin typeface="Helvetica Neue"/>
              </a:defRPr>
            </a:pPr>
            <a:r>
              <a:t>MDX tables still chunk poorly</a:t>
            </a:r>
          </a:p>
          <a:p>
            <a:pPr>
              <a:spcAft>
                <a:spcPts val="700"/>
              </a:spcAft>
              <a:defRPr sz="1500">
                <a:solidFill>
                  <a:srgbClr val="A1A1AA"/>
                </a:solidFill>
                <a:latin typeface="Helvetica Neue"/>
              </a:defRPr>
            </a:pPr>
            <a:r>
              <a:t>6-question eval is too small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194560"/>
            <a:ext cx="3200400" cy="393192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Helvetica Neue"/>
              </a:defRPr>
            </a:pPr>
            <a:r>
              <a:t>Agent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83464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A1A1AA"/>
                </a:solidFill>
                <a:latin typeface="Helvetica Neue"/>
              </a:defRPr>
            </a:pPr>
            <a:r>
              <a:t>No multi-turn conversation</a:t>
            </a:r>
          </a:p>
          <a:p>
            <a:pPr>
              <a:spcAft>
                <a:spcPts val="700"/>
              </a:spcAft>
              <a:defRPr sz="1500">
                <a:solidFill>
                  <a:srgbClr val="A1A1AA"/>
                </a:solidFill>
                <a:latin typeface="Helvetica Neue"/>
              </a:defRPr>
            </a:pPr>
            <a:r>
              <a:t>No tool calling (can't look up</a:t>
            </a:r>
          </a:p>
          <a:p>
            <a:pPr>
              <a:spcAft>
                <a:spcPts val="700"/>
              </a:spcAft>
              <a:defRPr sz="1500">
                <a:solidFill>
                  <a:srgbClr val="A1A1AA"/>
                </a:solidFill>
                <a:latin typeface="Helvetica Neue"/>
              </a:defRPr>
            </a:pPr>
            <a:r>
              <a:t>  a user's actual runs/billing)</a:t>
            </a:r>
          </a:p>
          <a:p>
            <a:pPr>
              <a:spcAft>
                <a:spcPts val="700"/>
              </a:spcAft>
              <a:defRPr sz="1500">
                <a:solidFill>
                  <a:srgbClr val="A1A1AA"/>
                </a:solidFill>
                <a:latin typeface="Helvetica Neue"/>
              </a:defRPr>
            </a:pPr>
            <a:r>
              <a:t>No confident "I don't know"</a:t>
            </a:r>
          </a:p>
          <a:p>
            <a:pPr>
              <a:spcAft>
                <a:spcPts val="700"/>
              </a:spcAft>
              <a:defRPr sz="1500">
                <a:solidFill>
                  <a:srgbClr val="A1A1AA"/>
                </a:solidFill>
                <a:latin typeface="Helvetica Neue"/>
              </a:defRPr>
            </a:pPr>
            <a:r>
              <a:t>No conversation memory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194560"/>
            <a:ext cx="3200400" cy="393192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5F7"/>
                </a:solidFill>
                <a:latin typeface="Helvetica Neue"/>
              </a:defRPr>
            </a:pPr>
            <a:r>
              <a:t>Operational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83464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A1A1AA"/>
                </a:solidFill>
                <a:latin typeface="Helvetica Neue"/>
              </a:defRPr>
            </a:pPr>
            <a:r>
              <a:t>No feedback loop from users</a:t>
            </a:r>
          </a:p>
          <a:p>
            <a:pPr>
              <a:spcAft>
                <a:spcPts val="700"/>
              </a:spcAft>
              <a:defRPr sz="1500">
                <a:solidFill>
                  <a:srgbClr val="A1A1AA"/>
                </a:solidFill>
                <a:latin typeface="Helvetica Neue"/>
              </a:defRPr>
            </a:pPr>
            <a:r>
              <a:t>No analytics on question types</a:t>
            </a:r>
          </a:p>
          <a:p>
            <a:pPr>
              <a:spcAft>
                <a:spcPts val="700"/>
              </a:spcAft>
              <a:defRPr sz="1500">
                <a:solidFill>
                  <a:srgbClr val="A1A1AA"/>
                </a:solidFill>
                <a:latin typeface="Helvetica Neue"/>
              </a:defRPr>
            </a:pPr>
            <a:r>
              <a:t>No auth or rate limiting</a:t>
            </a:r>
          </a:p>
          <a:p>
            <a:pPr>
              <a:spcAft>
                <a:spcPts val="700"/>
              </a:spcAft>
              <a:defRPr sz="1500">
                <a:solidFill>
                  <a:srgbClr val="A1A1AA"/>
                </a:solidFill>
                <a:latin typeface="Helvetica Neue"/>
              </a:defRPr>
            </a:pPr>
            <a:r>
              <a:t>No escalation to humans</a:t>
            </a:r>
          </a:p>
          <a:p>
            <a:pPr>
              <a:spcAft>
                <a:spcPts val="700"/>
              </a:spcAft>
              <a:defRPr sz="1500">
                <a:solidFill>
                  <a:srgbClr val="A1A1AA"/>
                </a:solidFill>
                <a:latin typeface="Helvetica Neue"/>
              </a:defRPr>
            </a:pPr>
            <a:r>
              <a:t>No A/B testing of prompts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691640"/>
            <a:ext cx="1645920" cy="38100"/>
          </a:xfrm>
          <a:prstGeom prst="rect">
            <a:avLst/>
          </a:prstGeom>
          <a:solidFill>
            <a:srgbClr val="41F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Helvetica Neue"/>
              </a:defRPr>
            </a:pPr>
            <a:r>
              <a:t>Roadmap: Make It Reliable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7451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1A1AA"/>
                </a:solidFill>
                <a:latin typeface="Helvetica Neue"/>
              </a:defRPr>
            </a:pPr>
            <a:r>
              <a:t>Weeks 1–4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20040"/>
            <a:ext cx="1813560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Helvetica Neue"/>
              </a:defRPr>
            </a:pPr>
            <a:r>
              <a:t>19/24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1.  Multi-step tool calling  (once SDK ships maxSteps fix)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Agent decides WHEN and WHAT to search, can refine queries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Observable tool calls in the Trigger.dev dashboard</a:t>
            </a:r>
          </a:p>
          <a:p>
            <a:pPr>
              <a:spcAft>
                <a:spcPts val="1000"/>
              </a:spcAft>
              <a:defRPr sz="1400">
                <a:latin typeface="Helvetica Neue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2.  Conversation memory &amp; follow-ups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Track state across turns, resolve references to prior answers</a:t>
            </a:r>
          </a:p>
          <a:p>
            <a:pPr>
              <a:spcAft>
                <a:spcPts val="1000"/>
              </a:spcAft>
              <a:defRPr sz="1400">
                <a:latin typeface="Helvetica Neue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3.  Confidence scoring &amp; "I don't know"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Low retrieval score → acknowledge gap, offer human escalation or Discord link</a:t>
            </a:r>
          </a:p>
          <a:p>
            <a:pPr>
              <a:spcAft>
                <a:spcPts val="1000"/>
              </a:spcAft>
              <a:defRPr sz="1400">
                <a:latin typeface="Helvetica Neue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4.  Automated eval pipeline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50+ golden QA pairs, run on every PR via Trigger.dev scheduled task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Regression detection: alert if any score drops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691640"/>
            <a:ext cx="1645920" cy="38100"/>
          </a:xfrm>
          <a:prstGeom prst="rect">
            <a:avLst/>
          </a:prstGeom>
          <a:solidFill>
            <a:srgbClr val="41F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Helvetica Neue"/>
              </a:defRPr>
            </a:pPr>
            <a:r>
              <a:t>Roadmap: Make It Smart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7451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1A1AA"/>
                </a:solidFill>
                <a:latin typeface="Helvetica Neue"/>
              </a:defRPr>
            </a:pPr>
            <a:r>
              <a:t>Months 2–3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20040"/>
            <a:ext cx="1813560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Helvetica Neue"/>
              </a:defRPr>
            </a:pPr>
            <a:r>
              <a:t>20/24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5.  Live data tools  (not just docs)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Connect to Trigger.dev API: look up user's runs, errors, billing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Connect to GitHub: search issues, PRs, changelogs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"Why is my task failing?" → agent checks their actual run logs</a:t>
            </a:r>
          </a:p>
          <a:p>
            <a:pPr>
              <a:spcAft>
                <a:spcPts val="1000"/>
              </a:spcAft>
              <a:defRPr sz="1400">
                <a:latin typeface="Helvetica Neue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6.  Auto-reindex on docs changes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GitHub webhook triggers incremental re-indexing task</a:t>
            </a:r>
          </a:p>
          <a:p>
            <a:pPr>
              <a:spcAft>
                <a:spcPts val="1000"/>
              </a:spcAft>
              <a:defRPr sz="1400">
                <a:latin typeface="Helvetica Neue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7.  Source code search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Index the open-source repo alongside docs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"How does queue concurrency work internally?" → actual source code</a:t>
            </a:r>
          </a:p>
          <a:p>
            <a:pPr>
              <a:spcAft>
                <a:spcPts val="1000"/>
              </a:spcAft>
              <a:defRPr sz="1400">
                <a:latin typeface="Helvetica Neue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8.  Feedback loop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Thumbs up/down on every answer, stored in DB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Weekly report: worst questions → targeted RAG improvements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691640"/>
            <a:ext cx="1645920" cy="38100"/>
          </a:xfrm>
          <a:prstGeom prst="rect">
            <a:avLst/>
          </a:prstGeom>
          <a:solidFill>
            <a:srgbClr val="41F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Helvetica Neue"/>
              </a:defRPr>
            </a:pPr>
            <a:r>
              <a:t>Roadmap: Make It a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7451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1A1AA"/>
                </a:solidFill>
                <a:latin typeface="Helvetica Neue"/>
              </a:defRPr>
            </a:pPr>
            <a:r>
              <a:t>Months 3–6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20040"/>
            <a:ext cx="1813560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Helvetica Neue"/>
              </a:defRPr>
            </a:pPr>
            <a:r>
              <a:t>21/24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9.   Human-in-the-loop escalation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Agent recognizes it can't help → creates support ticket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Passes full conversation context (no repeat explaining)</a:t>
            </a:r>
          </a:p>
          <a:p>
            <a:pPr>
              <a:spcAft>
                <a:spcPts val="1000"/>
              </a:spcAft>
              <a:defRPr sz="1400">
                <a:latin typeface="Helvetica Neue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10.  Multi-channel deployment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Dashboard sidebar widget, Discord bot, GitHub Discussions auto-responder</a:t>
            </a:r>
          </a:p>
          <a:p>
            <a:pPr>
              <a:spcAft>
                <a:spcPts val="1000"/>
              </a:spcAft>
              <a:defRPr sz="1400">
                <a:latin typeface="Helvetica Neue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11.  Personalization &amp; auth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Auth-aware: knows user's project, plan tier, recent errors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Proactive: "I see your task crashed 3x today — here's why"</a:t>
            </a:r>
          </a:p>
          <a:p>
            <a:pPr>
              <a:spcAft>
                <a:spcPts val="1000"/>
              </a:spcAft>
              <a:defRPr sz="1400">
                <a:latin typeface="Helvetica Neue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12.  Production infrastructure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Remote vector DB (Pinecone/Qdrant) for multi-worker scaling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Rate limiting, abuse detection, cost controls</a:t>
            </a:r>
          </a:p>
          <a:p>
            <a:pPr>
              <a:spcAft>
                <a:spcPts val="1000"/>
              </a:spcAft>
              <a:defRPr sz="1600">
                <a:solidFill>
                  <a:srgbClr val="A1A1AA"/>
                </a:solidFill>
                <a:latin typeface="Helvetica Neue"/>
              </a:defRPr>
            </a:pPr>
            <a:r>
              <a:t>A/B test models, prompts, retrieval strategies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691640"/>
            <a:ext cx="1645920" cy="38100"/>
          </a:xfrm>
          <a:prstGeom prst="rect">
            <a:avLst/>
          </a:prstGeom>
          <a:solidFill>
            <a:srgbClr val="41F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Helvetica Neue"/>
              </a:defRPr>
            </a:pPr>
            <a:r>
              <a:t>Developer Experience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7451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1A1AA"/>
                </a:solidFill>
                <a:latin typeface="Helvetica Neue"/>
              </a:defRPr>
            </a:pPr>
            <a:r>
              <a:t>Trigger.dev platform &amp; AI Agents SDK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20040"/>
            <a:ext cx="1813560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Helvetica Neue"/>
              </a:defRPr>
            </a:pPr>
            <a:r>
              <a:t>22/24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1FF54"/>
                </a:solidFill>
                <a:latin typeface="Helvetica Neue"/>
              </a:defRPr>
            </a:pPr>
            <a:r>
              <a:t>What worked well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Helvetica Neue"/>
              </a:defRPr>
            </a:pPr>
            <a:r>
              <a:t>Dashboard is excellent — stream viewer,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Helvetica Neue"/>
              </a:defRPr>
            </a:pPr>
            <a:r>
              <a:t>  run inspector, logs are first-class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Helvetica Neue"/>
              </a:defRPr>
            </a:pPr>
            <a:r>
              <a:t>chat.agent() API is clean for the happy path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Helvetica Neue"/>
              </a:defRPr>
            </a:pPr>
            <a:r>
              <a:t>useTriggerChatTransport: seamless frontend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Helvetica Neue"/>
              </a:defRPr>
            </a:pPr>
            <a:r>
              <a:t>Task observability is a real differentiator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Helvetica Neue"/>
              </a:defRPr>
            </a:pPr>
            <a:r>
              <a:t>schemaTask for typed inputs is great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Helvetica Neue"/>
              </a:defRPr>
            </a:pPr>
            <a:r>
              <a:t>Re-running tasks from dashboard: very useful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Helvetica Neue"/>
              </a:defRPr>
            </a:pPr>
            <a:r>
              <a:t>What needs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Helvetica Neue"/>
              </a:defRPr>
            </a:pPr>
            <a:r>
              <a:t>maxSteps broken in chat.agent()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Helvetica Neue"/>
              </a:defRPr>
            </a:pPr>
            <a:r>
              <a:t>  #1 blocker for real agent workflows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Helvetica Neue"/>
              </a:defRPr>
            </a:pPr>
            <a:r>
              <a:t>ai.toolExecute() hangs indefinitely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Helvetica Neue"/>
              </a:defRPr>
            </a:pPr>
            <a:r>
              <a:t>TypeScript types lag behind runtime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Helvetica Neue"/>
              </a:defRPr>
            </a:pPr>
            <a:r>
              <a:t>  (ignoreBuildErrors required)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Helvetica Neue"/>
              </a:defRPr>
            </a:pPr>
            <a:r>
              <a:t>Prerelease version pinning is fragile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Helvetica Neue"/>
              </a:defRPr>
            </a:pPr>
            <a:r>
              <a:t>CLI binary name mismatch vs. docs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Helvetica Neue"/>
              </a:defRPr>
            </a:pPr>
            <a:r>
              <a:t>No docs mention the maxSteps limitation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3815" y="320040"/>
            <a:ext cx="1813560" cy="320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Helvetica Neue"/>
              </a:defRPr>
            </a:pPr>
            <a:r>
              <a:t>23/24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Helvetica Neue"/>
              </a:defRPr>
            </a:pPr>
            <a:r>
              <a:t>Key Takeaway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691640"/>
            <a:ext cx="1645920" cy="38100"/>
          </a:xfrm>
          <a:prstGeom prst="rect">
            <a:avLst/>
          </a:prstGeom>
          <a:solidFill>
            <a:srgbClr val="41F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5F5F5"/>
                </a:solidFill>
                <a:latin typeface="Helvetica Neue"/>
              </a:defRPr>
            </a:pPr>
            <a:r>
              <a:t>The MVP proves the pattern works: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834640"/>
            <a:ext cx="9601200" cy="73152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1FF54"/>
                </a:solidFill>
                <a:latin typeface="Menlo"/>
              </a:defRPr>
            </a:pPr>
            <a:r>
              <a:t>chat.agent()  +  hybrid RAG  +  streaming UI  =  accurate, cited answers in &lt; 3 seconds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5F5F5"/>
                </a:solidFill>
                <a:latin typeface="Helvetica Neue"/>
              </a:defRPr>
            </a:pPr>
            <a:r>
              <a:t>The gap to world-class is not better search or a smarter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4FF53"/>
                </a:solidFill>
                <a:latin typeface="Helvetica Neue"/>
              </a:defRPr>
            </a:pPr>
            <a:r>
              <a:t>It's the feedback loop: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0292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Know which questions users actually ask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Know which answers are wrong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Know when to escalate to a human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  <a:latin typeface="Helvetica Neue"/>
              </a:defRPr>
            </a:pPr>
            <a:r>
              <a:t>Learn from every interaction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50800"/>
          </a:xfrm>
          <a:prstGeom prst="rect">
            <a:avLst/>
          </a:prstGeom>
          <a:solidFill>
            <a:srgbClr val="41F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6495" cy="50800"/>
          </a:xfrm>
          <a:prstGeom prst="rect">
            <a:avLst/>
          </a:prstGeom>
          <a:solidFill>
            <a:srgbClr val="E7F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310896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468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5F5F5"/>
                </a:solidFill>
                <a:latin typeface="Helvetica Neue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1FF54"/>
                </a:solidFill>
                <a:latin typeface="Helvetica Neue"/>
              </a:defRPr>
            </a:pPr>
            <a:r>
              <a:t>triggerdev-support.vercel.app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3891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1A1AA"/>
                </a:solidFill>
                <a:latin typeface="Helvetica Neue"/>
              </a:defRPr>
            </a:pPr>
            <a:r>
              <a:t>Juan Suarez</a:t>
            </a:r>
            <a:br/>
            <a:r>
              <a:t>juanluis.suarez@gmail.com</a:t>
            </a:r>
          </a:p>
        </p:txBody>
      </p:sp>
      <p:pic>
        <p:nvPicPr>
          <p:cNvPr id="8" name="Picture 7" descr="triggeri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2286000"/>
            <a:ext cx="2560320" cy="2560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807200"/>
            <a:ext cx="45720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6807200"/>
            <a:ext cx="7619695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Helvetica Neue"/>
              </a:defRPr>
            </a:pPr>
            <a:r>
              <a:t>24/24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